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Antique Olive Bold" charset="1" panose="020B0703020204030204"/>
      <p:regular r:id="rId28"/>
    </p:embeddedFont>
    <p:embeddedFont>
      <p:font typeface="Farro Bold" charset="1" panose="00000800000000000000"/>
      <p:regular r:id="rId29"/>
    </p:embeddedFont>
    <p:embeddedFont>
      <p:font typeface="HK Grotesk Light" charset="1" panose="00000400000000000000"/>
      <p:regular r:id="rId30"/>
    </p:embeddedFont>
    <p:embeddedFont>
      <p:font typeface="HK Grotesk Bold" charset="1" panose="00000800000000000000"/>
      <p:regular r:id="rId31"/>
    </p:embeddedFont>
    <p:embeddedFont>
      <p:font typeface="Antique Olive" charset="1" panose="020B0603020204030204"/>
      <p:regular r:id="rId32"/>
    </p:embeddedFont>
    <p:embeddedFont>
      <p:font typeface="Farro" charset="1" panose="000005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jpeg" Type="http://schemas.openxmlformats.org/officeDocument/2006/relationships/image"/><Relationship Id="rId4" Target="../media/image18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44F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8953500"/>
            <a:chOff x="0" y="0"/>
            <a:chExt cx="461340" cy="5998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1340" cy="599805"/>
            </a:xfrm>
            <a:custGeom>
              <a:avLst/>
              <a:gdLst/>
              <a:ahLst/>
              <a:cxnLst/>
              <a:rect r="r" b="b" t="t" l="l"/>
              <a:pathLst>
                <a:path h="599805" w="461340">
                  <a:moveTo>
                    <a:pt x="56210" y="0"/>
                  </a:moveTo>
                  <a:lnTo>
                    <a:pt x="405129" y="0"/>
                  </a:lnTo>
                  <a:cubicBezTo>
                    <a:pt x="436173" y="0"/>
                    <a:pt x="461340" y="25166"/>
                    <a:pt x="461340" y="56210"/>
                  </a:cubicBezTo>
                  <a:lnTo>
                    <a:pt x="461340" y="543595"/>
                  </a:lnTo>
                  <a:cubicBezTo>
                    <a:pt x="461340" y="574639"/>
                    <a:pt x="436173" y="599805"/>
                    <a:pt x="405129" y="599805"/>
                  </a:cubicBezTo>
                  <a:lnTo>
                    <a:pt x="56210" y="599805"/>
                  </a:lnTo>
                  <a:cubicBezTo>
                    <a:pt x="25166" y="599805"/>
                    <a:pt x="0" y="574639"/>
                    <a:pt x="0" y="543595"/>
                  </a:cubicBezTo>
                  <a:lnTo>
                    <a:pt x="0" y="56210"/>
                  </a:lnTo>
                  <a:cubicBezTo>
                    <a:pt x="0" y="25166"/>
                    <a:pt x="25166" y="0"/>
                    <a:pt x="56210" y="0"/>
                  </a:cubicBezTo>
                  <a:close/>
                </a:path>
              </a:pathLst>
            </a:custGeom>
            <a:blipFill>
              <a:blip r:embed="rId2"/>
              <a:stretch>
                <a:fillRect l="-12406" t="0" r="-12406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9296400" y="9041130"/>
            <a:ext cx="5448300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960"/>
              </a:lnSpc>
            </a:pPr>
            <a:r>
              <a:rPr lang="en-US" b="true" sz="3600">
                <a:solidFill>
                  <a:srgbClr val="FFFFFF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SUBHOJEET SARKAR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96400" y="1219200"/>
            <a:ext cx="8324850" cy="2870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00"/>
              </a:lnSpc>
            </a:pPr>
            <a:r>
              <a:rPr lang="en-US" b="true" sz="11000" spc="-220">
                <a:solidFill>
                  <a:srgbClr val="FFFFFF"/>
                </a:solidFill>
                <a:latin typeface="Farro Bold"/>
                <a:ea typeface="Farro Bold"/>
                <a:cs typeface="Farro Bold"/>
                <a:sym typeface="Farro Bold"/>
              </a:rPr>
              <a:t>Credit Card Strategy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049500" y="6385657"/>
            <a:ext cx="2571750" cy="3234593"/>
            <a:chOff x="0" y="0"/>
            <a:chExt cx="3429000" cy="43127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70206" cy="3270206"/>
            </a:xfrm>
            <a:custGeom>
              <a:avLst/>
              <a:gdLst/>
              <a:ahLst/>
              <a:cxnLst/>
              <a:rect r="r" b="b" t="t" l="l"/>
              <a:pathLst>
                <a:path h="3270206" w="3270206">
                  <a:moveTo>
                    <a:pt x="0" y="0"/>
                  </a:moveTo>
                  <a:lnTo>
                    <a:pt x="3270206" y="0"/>
                  </a:lnTo>
                  <a:lnTo>
                    <a:pt x="3270206" y="3270206"/>
                  </a:lnTo>
                  <a:lnTo>
                    <a:pt x="0" y="3270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19367" y="2043576"/>
              <a:ext cx="2309633" cy="2269214"/>
            </a:xfrm>
            <a:custGeom>
              <a:avLst/>
              <a:gdLst/>
              <a:ahLst/>
              <a:cxnLst/>
              <a:rect r="r" b="b" t="t" l="l"/>
              <a:pathLst>
                <a:path h="2269214" w="2309633">
                  <a:moveTo>
                    <a:pt x="0" y="0"/>
                  </a:moveTo>
                  <a:lnTo>
                    <a:pt x="2309633" y="0"/>
                  </a:lnTo>
                  <a:lnTo>
                    <a:pt x="2309633" y="2269214"/>
                  </a:lnTo>
                  <a:lnTo>
                    <a:pt x="0" y="2269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887075" y="449580"/>
            <a:ext cx="5448300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960"/>
              </a:lnSpc>
            </a:pPr>
            <a:r>
              <a:rPr lang="en-US" b="true" sz="3600">
                <a:solidFill>
                  <a:srgbClr val="FFFFFF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MI</a:t>
            </a:r>
            <a:r>
              <a:rPr lang="en-US" b="true" sz="3600">
                <a:solidFill>
                  <a:srgbClr val="FFFFFF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TRON BANK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44F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8953500"/>
            <a:chOff x="0" y="0"/>
            <a:chExt cx="523071" cy="6800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071" cy="680065"/>
            </a:xfrm>
            <a:custGeom>
              <a:avLst/>
              <a:gdLst/>
              <a:ahLst/>
              <a:cxnLst/>
              <a:rect r="r" b="b" t="t" l="l"/>
              <a:pathLst>
                <a:path h="680065" w="523071">
                  <a:moveTo>
                    <a:pt x="56210" y="0"/>
                  </a:moveTo>
                  <a:lnTo>
                    <a:pt x="466861" y="0"/>
                  </a:lnTo>
                  <a:cubicBezTo>
                    <a:pt x="497905" y="0"/>
                    <a:pt x="523071" y="25166"/>
                    <a:pt x="523071" y="56210"/>
                  </a:cubicBezTo>
                  <a:lnTo>
                    <a:pt x="523071" y="623855"/>
                  </a:lnTo>
                  <a:cubicBezTo>
                    <a:pt x="523071" y="654899"/>
                    <a:pt x="497905" y="680065"/>
                    <a:pt x="466861" y="680065"/>
                  </a:cubicBezTo>
                  <a:lnTo>
                    <a:pt x="56210" y="680065"/>
                  </a:lnTo>
                  <a:cubicBezTo>
                    <a:pt x="25166" y="680065"/>
                    <a:pt x="0" y="654899"/>
                    <a:pt x="0" y="623855"/>
                  </a:cubicBezTo>
                  <a:lnTo>
                    <a:pt x="0" y="56210"/>
                  </a:lnTo>
                  <a:cubicBezTo>
                    <a:pt x="0" y="25166"/>
                    <a:pt x="25166" y="0"/>
                    <a:pt x="5621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9296400" y="800100"/>
            <a:ext cx="8324850" cy="204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00"/>
              </a:lnSpc>
            </a:pPr>
            <a:r>
              <a:rPr lang="en-US" b="true" sz="7800" spc="-156">
                <a:solidFill>
                  <a:srgbClr val="FFFFFF"/>
                </a:solidFill>
                <a:latin typeface="Farro Bold"/>
                <a:ea typeface="Farro Bold"/>
                <a:cs typeface="Farro Bold"/>
                <a:sym typeface="Farro Bold"/>
              </a:rPr>
              <a:t>Executive Summary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2700000">
            <a:off x="14655710" y="7765390"/>
            <a:ext cx="5043220" cy="5043220"/>
          </a:xfrm>
          <a:custGeom>
            <a:avLst/>
            <a:gdLst/>
            <a:ahLst/>
            <a:cxnLst/>
            <a:rect r="r" b="b" t="t" l="l"/>
            <a:pathLst>
              <a:path h="5043220" w="5043220">
                <a:moveTo>
                  <a:pt x="0" y="0"/>
                </a:moveTo>
                <a:lnTo>
                  <a:pt x="5043221" y="0"/>
                </a:lnTo>
                <a:lnTo>
                  <a:pt x="5043221" y="5043220"/>
                </a:lnTo>
                <a:lnTo>
                  <a:pt x="0" y="5043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296400" y="3278537"/>
            <a:ext cx="5565826" cy="297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</a:pPr>
            <a:r>
              <a:rPr lang="en-US" sz="3000">
                <a:solidFill>
                  <a:srgbClr val="C4D7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In this analysis, we explored </a:t>
            </a:r>
            <a:r>
              <a:rPr lang="en-US" b="true" sz="3000">
                <a:solidFill>
                  <a:srgbClr val="C4D7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4,000 urban customers</a:t>
            </a:r>
            <a:r>
              <a:rPr lang="en-US" sz="3000">
                <a:solidFill>
                  <a:srgbClr val="C4D7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to understand credit card </a:t>
            </a:r>
            <a:r>
              <a:rPr lang="en-US" b="true" sz="3000">
                <a:solidFill>
                  <a:srgbClr val="C4D7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spend behavior</a:t>
            </a:r>
            <a:r>
              <a:rPr lang="en-US" sz="3000">
                <a:solidFill>
                  <a:srgbClr val="C4D7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and proposed a </a:t>
            </a:r>
            <a:r>
              <a:rPr lang="en-US" b="true" sz="3000">
                <a:solidFill>
                  <a:srgbClr val="C4D7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3-card portfolio</a:t>
            </a:r>
            <a:r>
              <a:rPr lang="en-US" sz="3000">
                <a:solidFill>
                  <a:srgbClr val="C4D7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to address target segment needs effectively.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81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4077950" cy="3425190"/>
            <a:chOff x="0" y="0"/>
            <a:chExt cx="18770600" cy="456691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33350"/>
              <a:ext cx="18770600" cy="14837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b="true" sz="8000" spc="-160" strike="noStrike" u="none">
                  <a:solidFill>
                    <a:srgbClr val="FFFFFF"/>
                  </a:solidFill>
                  <a:latin typeface="Farro Bold"/>
                  <a:ea typeface="Farro Bold"/>
                  <a:cs typeface="Farro Bold"/>
                  <a:sym typeface="Farro Bold"/>
                </a:rPr>
                <a:t>Business Need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663682"/>
              <a:ext cx="18770600" cy="679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20"/>
                </a:lnSpc>
              </a:pPr>
              <a:r>
                <a:rPr lang="en-US" sz="2800">
                  <a:solidFill>
                    <a:srgbClr val="001437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Identifying Key Segments and Features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876550"/>
              <a:ext cx="14935200" cy="1690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I</a:t>
              </a:r>
              <a:r>
                <a:rPr lang="en-US" sz="24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dentify</a:t>
              </a:r>
              <a:r>
                <a:rPr lang="en-US" sz="24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ing</a:t>
              </a:r>
              <a:r>
                <a:rPr lang="en-US" sz="24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customer segments and ta</a:t>
              </a:r>
              <a:r>
                <a:rPr lang="en-US" sz="24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i</a:t>
              </a:r>
              <a:r>
                <a:rPr lang="en-US" sz="24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l</a:t>
              </a:r>
              <a:r>
                <a:rPr lang="en-US" sz="24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ored</a:t>
              </a:r>
              <a:r>
                <a:rPr lang="en-US" sz="24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card features </a:t>
              </a:r>
              <a:r>
                <a:rPr lang="en-US" sz="24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is cruci</a:t>
              </a:r>
              <a:r>
                <a:rPr lang="en-US" sz="24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a</a:t>
              </a:r>
              <a:r>
                <a:rPr lang="en-US" sz="24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l</a:t>
              </a:r>
              <a:r>
                <a:rPr lang="en-US" sz="24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</a:t>
              </a:r>
              <a:r>
                <a:rPr lang="en-US" sz="24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f</a:t>
              </a:r>
              <a:r>
                <a:rPr lang="en-US" sz="24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or</a:t>
              </a:r>
              <a:r>
                <a:rPr lang="en-US" sz="24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enh</a:t>
              </a:r>
              <a:r>
                <a:rPr lang="en-US" sz="24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a</a:t>
              </a:r>
              <a:r>
                <a:rPr lang="en-US" sz="24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ncin</a:t>
              </a:r>
              <a:r>
                <a:rPr lang="en-US" sz="24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g adoption, </a:t>
              </a:r>
              <a:r>
                <a:rPr lang="en-US" sz="24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maximiz</a:t>
              </a:r>
              <a:r>
                <a:rPr lang="en-US" sz="24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in</a:t>
              </a:r>
              <a:r>
                <a:rPr lang="en-US" sz="24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g</a:t>
              </a:r>
              <a:r>
                <a:rPr lang="en-US" sz="24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spend, and en</a:t>
              </a:r>
              <a:r>
                <a:rPr lang="en-US" sz="24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suri</a:t>
              </a:r>
              <a:r>
                <a:rPr lang="en-US" sz="24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n</a:t>
              </a:r>
              <a:r>
                <a:rPr lang="en-US" sz="24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g tim</a:t>
              </a:r>
              <a:r>
                <a:rPr lang="en-US" sz="24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e</a:t>
              </a:r>
              <a:r>
                <a:rPr lang="en-US" sz="24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ly</a:t>
              </a:r>
              <a:r>
                <a:rPr lang="en-US" sz="24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repayments.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049500" y="6385657"/>
            <a:ext cx="2571750" cy="3234593"/>
            <a:chOff x="0" y="0"/>
            <a:chExt cx="3429000" cy="43127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70206" cy="3270206"/>
            </a:xfrm>
            <a:custGeom>
              <a:avLst/>
              <a:gdLst/>
              <a:ahLst/>
              <a:cxnLst/>
              <a:rect r="r" b="b" t="t" l="l"/>
              <a:pathLst>
                <a:path h="3270206" w="3270206">
                  <a:moveTo>
                    <a:pt x="0" y="0"/>
                  </a:moveTo>
                  <a:lnTo>
                    <a:pt x="3270206" y="0"/>
                  </a:lnTo>
                  <a:lnTo>
                    <a:pt x="3270206" y="3270206"/>
                  </a:lnTo>
                  <a:lnTo>
                    <a:pt x="0" y="3270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19367" y="2043576"/>
              <a:ext cx="2309633" cy="2269214"/>
            </a:xfrm>
            <a:custGeom>
              <a:avLst/>
              <a:gdLst/>
              <a:ahLst/>
              <a:cxnLst/>
              <a:rect r="r" b="b" t="t" l="l"/>
              <a:pathLst>
                <a:path h="2269214" w="2309633">
                  <a:moveTo>
                    <a:pt x="0" y="0"/>
                  </a:moveTo>
                  <a:lnTo>
                    <a:pt x="2309633" y="0"/>
                  </a:lnTo>
                  <a:lnTo>
                    <a:pt x="2309633" y="2269214"/>
                  </a:lnTo>
                  <a:lnTo>
                    <a:pt x="0" y="2269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81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66750" y="6057827"/>
            <a:ext cx="18002692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-5400000">
            <a:off x="14589049" y="320599"/>
            <a:ext cx="2686050" cy="3378352"/>
            <a:chOff x="0" y="0"/>
            <a:chExt cx="3581400" cy="45044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15549" cy="3415549"/>
            </a:xfrm>
            <a:custGeom>
              <a:avLst/>
              <a:gdLst/>
              <a:ahLst/>
              <a:cxnLst/>
              <a:rect r="r" b="b" t="t" l="l"/>
              <a:pathLst>
                <a:path h="3415549" w="3415549">
                  <a:moveTo>
                    <a:pt x="0" y="0"/>
                  </a:moveTo>
                  <a:lnTo>
                    <a:pt x="3415549" y="0"/>
                  </a:lnTo>
                  <a:lnTo>
                    <a:pt x="3415549" y="3415549"/>
                  </a:lnTo>
                  <a:lnTo>
                    <a:pt x="0" y="34155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69117" y="2134402"/>
              <a:ext cx="2412283" cy="2370068"/>
            </a:xfrm>
            <a:custGeom>
              <a:avLst/>
              <a:gdLst/>
              <a:ahLst/>
              <a:cxnLst/>
              <a:rect r="r" b="b" t="t" l="l"/>
              <a:pathLst>
                <a:path h="2370068" w="2412283">
                  <a:moveTo>
                    <a:pt x="0" y="0"/>
                  </a:moveTo>
                  <a:lnTo>
                    <a:pt x="2412283" y="0"/>
                  </a:lnTo>
                  <a:lnTo>
                    <a:pt x="2412283" y="2370068"/>
                  </a:lnTo>
                  <a:lnTo>
                    <a:pt x="0" y="23700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6750" y="5871488"/>
            <a:ext cx="372677" cy="37267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19850" y="5871488"/>
            <a:ext cx="372677" cy="37267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66750" y="4564380"/>
            <a:ext cx="4010025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  <a:spcBef>
                <a:spcPct val="0"/>
              </a:spcBef>
            </a:pPr>
            <a:r>
              <a:rPr lang="en-US" b="true" sz="3600">
                <a:solidFill>
                  <a:srgbClr val="001437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DATA CLEANING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6876903"/>
            <a:ext cx="4010025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Ensuring accuracy through thorough data review processes.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19850" y="4564380"/>
            <a:ext cx="4010025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  <a:spcBef>
                <a:spcPct val="0"/>
              </a:spcBef>
            </a:pPr>
            <a:r>
              <a:rPr lang="en-US" b="true" sz="3600">
                <a:solidFill>
                  <a:srgbClr val="001437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MODELING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19850" y="6876903"/>
            <a:ext cx="4010025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Ap</a:t>
            </a:r>
            <a:r>
              <a:rPr lang="en-US" sz="24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plying statistical methods to identify patterns and trends.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72950" y="4564380"/>
            <a:ext cx="4010025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  <a:spcBef>
                <a:spcPct val="0"/>
              </a:spcBef>
            </a:pPr>
            <a:r>
              <a:rPr lang="en-US" b="true" sz="3600">
                <a:solidFill>
                  <a:srgbClr val="001437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KPI CALCULATION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72950" y="6876903"/>
            <a:ext cx="4010025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Defi</a:t>
            </a:r>
            <a:r>
              <a:rPr lang="en-US" sz="24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ning key metrics to track performance effectively.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6750" y="800100"/>
            <a:ext cx="11201400" cy="107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 spc="-160" strike="noStrike" u="none">
                <a:solidFill>
                  <a:srgbClr val="FFFFFF"/>
                </a:solidFill>
                <a:latin typeface="Farro Bold"/>
                <a:ea typeface="Farro Bold"/>
                <a:cs typeface="Farro Bold"/>
                <a:sym typeface="Farro Bold"/>
              </a:rPr>
              <a:t>Process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172950" y="5871488"/>
            <a:ext cx="372677" cy="37267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81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1562100"/>
            <a:ext cx="8324850" cy="2214866"/>
            <a:chOff x="0" y="0"/>
            <a:chExt cx="11099800" cy="295315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0"/>
              <a:ext cx="11099800" cy="20362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000"/>
                </a:lnSpc>
              </a:pPr>
              <a:r>
                <a:rPr lang="en-US" b="true" sz="11000" spc="-220">
                  <a:solidFill>
                    <a:srgbClr val="FFFFFF"/>
                  </a:solidFill>
                  <a:latin typeface="Farro Bold"/>
                  <a:ea typeface="Farro Bold"/>
                  <a:cs typeface="Farro Bold"/>
                  <a:sym typeface="Farro Bold"/>
                </a:rPr>
                <a:t>~1,240M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273282"/>
              <a:ext cx="11099800" cy="679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20"/>
                </a:lnSpc>
              </a:pPr>
              <a:r>
                <a:rPr lang="en-US" sz="2800">
                  <a:solidFill>
                    <a:srgbClr val="001437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Total Income Generated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4248150"/>
            <a:ext cx="8324850" cy="2214866"/>
            <a:chOff x="0" y="0"/>
            <a:chExt cx="11099800" cy="295315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90500"/>
              <a:ext cx="11099800" cy="20362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000"/>
                </a:lnSpc>
              </a:pPr>
              <a:r>
                <a:rPr lang="en-US" b="true" sz="11000" spc="-220">
                  <a:solidFill>
                    <a:srgbClr val="FFFFFF"/>
                  </a:solidFill>
                  <a:latin typeface="Farro Bold"/>
                  <a:ea typeface="Farro Bold"/>
                  <a:cs typeface="Farro Bold"/>
                  <a:sym typeface="Farro Bold"/>
                </a:rPr>
                <a:t>43%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273282"/>
              <a:ext cx="11099800" cy="679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20"/>
                </a:lnSpc>
              </a:pPr>
              <a:r>
                <a:rPr lang="en-US" sz="2800">
                  <a:solidFill>
                    <a:srgbClr val="001437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Utilization Rate Achieved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6929782"/>
            <a:ext cx="8324850" cy="2214866"/>
            <a:chOff x="0" y="0"/>
            <a:chExt cx="11099800" cy="295315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90500"/>
              <a:ext cx="11099800" cy="20362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000"/>
                </a:lnSpc>
              </a:pPr>
              <a:r>
                <a:rPr lang="en-US" b="true" sz="11000" spc="-220">
                  <a:solidFill>
                    <a:srgbClr val="FFFFFF"/>
                  </a:solidFill>
                  <a:latin typeface="Farro Bold"/>
                  <a:ea typeface="Farro Bold"/>
                  <a:cs typeface="Farro Bold"/>
                  <a:sym typeface="Farro Bold"/>
                </a:rPr>
                <a:t>~531M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273282"/>
              <a:ext cx="11099800" cy="679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20"/>
                </a:lnSpc>
              </a:pPr>
              <a:r>
                <a:rPr lang="en-US" sz="2800">
                  <a:solidFill>
                    <a:srgbClr val="001437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Total Spend Recorded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2563720" y="2894105"/>
            <a:ext cx="3559361" cy="4476750"/>
            <a:chOff x="0" y="0"/>
            <a:chExt cx="4745814" cy="596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26040" cy="4526040"/>
            </a:xfrm>
            <a:custGeom>
              <a:avLst/>
              <a:gdLst/>
              <a:ahLst/>
              <a:cxnLst/>
              <a:rect r="r" b="b" t="t" l="l"/>
              <a:pathLst>
                <a:path h="4526040" w="4526040">
                  <a:moveTo>
                    <a:pt x="0" y="0"/>
                  </a:moveTo>
                  <a:lnTo>
                    <a:pt x="4526040" y="0"/>
                  </a:lnTo>
                  <a:lnTo>
                    <a:pt x="4526040" y="4526040"/>
                  </a:lnTo>
                  <a:lnTo>
                    <a:pt x="0" y="4526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549230" y="2828356"/>
              <a:ext cx="3196584" cy="3140644"/>
            </a:xfrm>
            <a:custGeom>
              <a:avLst/>
              <a:gdLst/>
              <a:ahLst/>
              <a:cxnLst/>
              <a:rect r="r" b="b" t="t" l="l"/>
              <a:pathLst>
                <a:path h="3140644" w="3196584">
                  <a:moveTo>
                    <a:pt x="0" y="0"/>
                  </a:moveTo>
                  <a:lnTo>
                    <a:pt x="3196584" y="0"/>
                  </a:lnTo>
                  <a:lnTo>
                    <a:pt x="3196584" y="3140644"/>
                  </a:lnTo>
                  <a:lnTo>
                    <a:pt x="0" y="31406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81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59079" y="4126508"/>
            <a:ext cx="12969841" cy="2033984"/>
          </a:xfrm>
          <a:custGeom>
            <a:avLst/>
            <a:gdLst/>
            <a:ahLst/>
            <a:cxnLst/>
            <a:rect r="r" b="b" t="t" l="l"/>
            <a:pathLst>
              <a:path h="2033984" w="12969841">
                <a:moveTo>
                  <a:pt x="0" y="0"/>
                </a:moveTo>
                <a:lnTo>
                  <a:pt x="12969842" y="0"/>
                </a:lnTo>
                <a:lnTo>
                  <a:pt x="12969842" y="2033984"/>
                </a:lnTo>
                <a:lnTo>
                  <a:pt x="0" y="2033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81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815850" cy="1060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5850" cy="1060718"/>
            </a:xfrm>
            <a:custGeom>
              <a:avLst/>
              <a:gdLst/>
              <a:ahLst/>
              <a:cxnLst/>
              <a:rect r="r" b="b" t="t" l="l"/>
              <a:pathLst>
                <a:path h="1060718" w="815850">
                  <a:moveTo>
                    <a:pt x="0" y="0"/>
                  </a:moveTo>
                  <a:lnTo>
                    <a:pt x="815850" y="0"/>
                  </a:lnTo>
                  <a:lnTo>
                    <a:pt x="815850" y="1060718"/>
                  </a:lnTo>
                  <a:lnTo>
                    <a:pt x="0" y="1060718"/>
                  </a:ln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5673090"/>
            <a:chOff x="0" y="0"/>
            <a:chExt cx="11099800" cy="756412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33350"/>
              <a:ext cx="11099800" cy="28299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FFFFFF"/>
                  </a:solidFill>
                  <a:latin typeface="Farro"/>
                  <a:ea typeface="Farro"/>
                  <a:cs typeface="Farro"/>
                  <a:sym typeface="Farro"/>
                </a:rPr>
                <a:t>Segment Performance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1472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1437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Key Demographics Overview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756150"/>
              <a:ext cx="9182100" cy="280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399">
                  <a:solidFill>
                    <a:srgbClr val="F8F8F8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This analysis focuses on five major metropolitan areas with a special emphasis on Mumbai, highlighting the core segment of married salaried IT professionals aged 25–34.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913462" y="7785925"/>
            <a:ext cx="1914429" cy="2407854"/>
            <a:chOff x="0" y="0"/>
            <a:chExt cx="2552572" cy="3210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4365" cy="2434365"/>
            </a:xfrm>
            <a:custGeom>
              <a:avLst/>
              <a:gdLst/>
              <a:ahLst/>
              <a:cxnLst/>
              <a:rect r="r" b="b" t="t" l="l"/>
              <a:pathLst>
                <a:path h="2434365" w="2434365">
                  <a:moveTo>
                    <a:pt x="0" y="0"/>
                  </a:moveTo>
                  <a:lnTo>
                    <a:pt x="2434365" y="0"/>
                  </a:lnTo>
                  <a:lnTo>
                    <a:pt x="2434365" y="2434365"/>
                  </a:lnTo>
                  <a:lnTo>
                    <a:pt x="0" y="2434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33265" y="1521253"/>
              <a:ext cx="1719307" cy="1689219"/>
            </a:xfrm>
            <a:custGeom>
              <a:avLst/>
              <a:gdLst/>
              <a:ahLst/>
              <a:cxnLst/>
              <a:rect r="r" b="b" t="t" l="l"/>
              <a:pathLst>
                <a:path h="1689219" w="1719307">
                  <a:moveTo>
                    <a:pt x="0" y="0"/>
                  </a:moveTo>
                  <a:lnTo>
                    <a:pt x="1719307" y="0"/>
                  </a:lnTo>
                  <a:lnTo>
                    <a:pt x="1719307" y="1689219"/>
                  </a:lnTo>
                  <a:lnTo>
                    <a:pt x="0" y="1689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81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214478"/>
            <a:ext cx="8834005" cy="4185544"/>
          </a:xfrm>
          <a:custGeom>
            <a:avLst/>
            <a:gdLst/>
            <a:ahLst/>
            <a:cxnLst/>
            <a:rect r="r" b="b" t="t" l="l"/>
            <a:pathLst>
              <a:path h="4185544" w="8834005">
                <a:moveTo>
                  <a:pt x="0" y="0"/>
                </a:moveTo>
                <a:lnTo>
                  <a:pt x="8834005" y="0"/>
                </a:lnTo>
                <a:lnTo>
                  <a:pt x="8834005" y="4185544"/>
                </a:lnTo>
                <a:lnTo>
                  <a:pt x="0" y="4185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22831" y="2374811"/>
            <a:ext cx="6736469" cy="5537378"/>
          </a:xfrm>
          <a:custGeom>
            <a:avLst/>
            <a:gdLst/>
            <a:ahLst/>
            <a:cxnLst/>
            <a:rect r="r" b="b" t="t" l="l"/>
            <a:pathLst>
              <a:path h="5537378" w="6736469">
                <a:moveTo>
                  <a:pt x="0" y="0"/>
                </a:moveTo>
                <a:lnTo>
                  <a:pt x="6736469" y="0"/>
                </a:lnTo>
                <a:lnTo>
                  <a:pt x="6736469" y="5537378"/>
                </a:lnTo>
                <a:lnTo>
                  <a:pt x="0" y="5537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81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545350" y="7618080"/>
            <a:ext cx="2190563" cy="2755159"/>
            <a:chOff x="0" y="0"/>
            <a:chExt cx="2920751" cy="36735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85494" cy="2785494"/>
            </a:xfrm>
            <a:custGeom>
              <a:avLst/>
              <a:gdLst/>
              <a:ahLst/>
              <a:cxnLst/>
              <a:rect r="r" b="b" t="t" l="l"/>
              <a:pathLst>
                <a:path h="2785494" w="2785494">
                  <a:moveTo>
                    <a:pt x="0" y="0"/>
                  </a:moveTo>
                  <a:lnTo>
                    <a:pt x="2785494" y="0"/>
                  </a:lnTo>
                  <a:lnTo>
                    <a:pt x="2785494" y="2785494"/>
                  </a:lnTo>
                  <a:lnTo>
                    <a:pt x="0" y="27854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953454" y="1740676"/>
              <a:ext cx="1967297" cy="1932869"/>
            </a:xfrm>
            <a:custGeom>
              <a:avLst/>
              <a:gdLst/>
              <a:ahLst/>
              <a:cxnLst/>
              <a:rect r="r" b="b" t="t" l="l"/>
              <a:pathLst>
                <a:path h="1932869" w="1967297">
                  <a:moveTo>
                    <a:pt x="0" y="0"/>
                  </a:moveTo>
                  <a:lnTo>
                    <a:pt x="1967297" y="0"/>
                  </a:lnTo>
                  <a:lnTo>
                    <a:pt x="1967297" y="1932869"/>
                  </a:lnTo>
                  <a:lnTo>
                    <a:pt x="0" y="1932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1581030" y="1133391"/>
            <a:ext cx="6118088" cy="2998554"/>
          </a:xfrm>
          <a:custGeom>
            <a:avLst/>
            <a:gdLst/>
            <a:ahLst/>
            <a:cxnLst/>
            <a:rect r="r" b="b" t="t" l="l"/>
            <a:pathLst>
              <a:path h="2998554" w="6118088">
                <a:moveTo>
                  <a:pt x="0" y="0"/>
                </a:moveTo>
                <a:lnTo>
                  <a:pt x="6118089" y="0"/>
                </a:lnTo>
                <a:lnTo>
                  <a:pt x="6118089" y="2998554"/>
                </a:lnTo>
                <a:lnTo>
                  <a:pt x="0" y="29985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72440" y="4913777"/>
            <a:ext cx="8326678" cy="4081882"/>
          </a:xfrm>
          <a:custGeom>
            <a:avLst/>
            <a:gdLst/>
            <a:ahLst/>
            <a:cxnLst/>
            <a:rect r="r" b="b" t="t" l="l"/>
            <a:pathLst>
              <a:path h="4081882" w="8326678">
                <a:moveTo>
                  <a:pt x="0" y="0"/>
                </a:moveTo>
                <a:lnTo>
                  <a:pt x="8326679" y="0"/>
                </a:lnTo>
                <a:lnTo>
                  <a:pt x="8326679" y="4081883"/>
                </a:lnTo>
                <a:lnTo>
                  <a:pt x="0" y="40818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66750" y="666750"/>
            <a:ext cx="8324850" cy="6930390"/>
            <a:chOff x="0" y="0"/>
            <a:chExt cx="11099800" cy="924052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33350"/>
              <a:ext cx="11099800" cy="28299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F8F8F8"/>
                  </a:solidFill>
                  <a:latin typeface="Farro"/>
                  <a:ea typeface="Farro"/>
                  <a:cs typeface="Farro"/>
                  <a:sym typeface="Farro"/>
                </a:rPr>
                <a:t>Spend Category Insights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51472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1437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Dominance of Payment Trends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756150"/>
              <a:ext cx="9182100" cy="44843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399">
                  <a:solidFill>
                    <a:srgbClr val="F8F8F8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A</a:t>
              </a:r>
              <a:r>
                <a:rPr lang="en-US" sz="2399">
                  <a:solidFill>
                    <a:srgbClr val="F8F8F8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nalyzing customer spending reveals key insights into daily habits. Major categories include bills, groceries, electronics, health, and travel. Notably, UPI and debit transactions dominate these expenditures, highlighting a significant opportunity for expanding credit card usage among consumers in these areas.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81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85754" y="1732966"/>
            <a:ext cx="12916492" cy="6821069"/>
          </a:xfrm>
          <a:custGeom>
            <a:avLst/>
            <a:gdLst/>
            <a:ahLst/>
            <a:cxnLst/>
            <a:rect r="r" b="b" t="t" l="l"/>
            <a:pathLst>
              <a:path h="6821069" w="12916492">
                <a:moveTo>
                  <a:pt x="0" y="0"/>
                </a:moveTo>
                <a:lnTo>
                  <a:pt x="12916492" y="0"/>
                </a:lnTo>
                <a:lnTo>
                  <a:pt x="12916492" y="6821068"/>
                </a:lnTo>
                <a:lnTo>
                  <a:pt x="0" y="68210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81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00100"/>
            <a:ext cx="15516225" cy="107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 spc="-160" strike="noStrike" u="none">
                <a:solidFill>
                  <a:srgbClr val="FFFFFF"/>
                </a:solidFill>
                <a:latin typeface="Farro Bold"/>
                <a:ea typeface="Farro Bold"/>
                <a:cs typeface="Farro Bold"/>
                <a:sym typeface="Farro Bold"/>
              </a:rPr>
              <a:t>Spending Behavior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3352800"/>
            <a:ext cx="4010025" cy="4051011"/>
            <a:chOff x="0" y="0"/>
            <a:chExt cx="1434245" cy="14489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34245" cy="1448904"/>
            </a:xfrm>
            <a:custGeom>
              <a:avLst/>
              <a:gdLst/>
              <a:ahLst/>
              <a:cxnLst/>
              <a:rect r="r" b="b" t="t" l="l"/>
              <a:pathLst>
                <a:path h="1448904" w="1434245">
                  <a:moveTo>
                    <a:pt x="96532" y="0"/>
                  </a:moveTo>
                  <a:lnTo>
                    <a:pt x="1337713" y="0"/>
                  </a:lnTo>
                  <a:cubicBezTo>
                    <a:pt x="1363314" y="0"/>
                    <a:pt x="1387868" y="10170"/>
                    <a:pt x="1405971" y="28274"/>
                  </a:cubicBezTo>
                  <a:cubicBezTo>
                    <a:pt x="1424074" y="46377"/>
                    <a:pt x="1434245" y="70930"/>
                    <a:pt x="1434245" y="96532"/>
                  </a:cubicBezTo>
                  <a:lnTo>
                    <a:pt x="1434245" y="1352372"/>
                  </a:lnTo>
                  <a:cubicBezTo>
                    <a:pt x="1434245" y="1405685"/>
                    <a:pt x="1391026" y="1448904"/>
                    <a:pt x="1337713" y="1448904"/>
                  </a:cubicBezTo>
                  <a:lnTo>
                    <a:pt x="96532" y="1448904"/>
                  </a:lnTo>
                  <a:cubicBezTo>
                    <a:pt x="70930" y="1448904"/>
                    <a:pt x="46377" y="1438734"/>
                    <a:pt x="28274" y="1420630"/>
                  </a:cubicBezTo>
                  <a:cubicBezTo>
                    <a:pt x="10170" y="1402527"/>
                    <a:pt x="0" y="1377974"/>
                    <a:pt x="0" y="1352372"/>
                  </a:cubicBezTo>
                  <a:lnTo>
                    <a:pt x="0" y="96532"/>
                  </a:lnTo>
                  <a:cubicBezTo>
                    <a:pt x="0" y="43219"/>
                    <a:pt x="43219" y="0"/>
                    <a:pt x="9653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20" r="0" b="-12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419850" y="3352800"/>
            <a:ext cx="4010025" cy="4051011"/>
            <a:chOff x="0" y="0"/>
            <a:chExt cx="1434245" cy="14489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245" cy="1448904"/>
            </a:xfrm>
            <a:custGeom>
              <a:avLst/>
              <a:gdLst/>
              <a:ahLst/>
              <a:cxnLst/>
              <a:rect r="r" b="b" t="t" l="l"/>
              <a:pathLst>
                <a:path h="1448904" w="1434245">
                  <a:moveTo>
                    <a:pt x="96532" y="0"/>
                  </a:moveTo>
                  <a:lnTo>
                    <a:pt x="1337713" y="0"/>
                  </a:lnTo>
                  <a:cubicBezTo>
                    <a:pt x="1363314" y="0"/>
                    <a:pt x="1387868" y="10170"/>
                    <a:pt x="1405971" y="28274"/>
                  </a:cubicBezTo>
                  <a:cubicBezTo>
                    <a:pt x="1424074" y="46377"/>
                    <a:pt x="1434245" y="70930"/>
                    <a:pt x="1434245" y="96532"/>
                  </a:cubicBezTo>
                  <a:lnTo>
                    <a:pt x="1434245" y="1352372"/>
                  </a:lnTo>
                  <a:cubicBezTo>
                    <a:pt x="1434245" y="1405685"/>
                    <a:pt x="1391026" y="1448904"/>
                    <a:pt x="1337713" y="1448904"/>
                  </a:cubicBezTo>
                  <a:lnTo>
                    <a:pt x="96532" y="1448904"/>
                  </a:lnTo>
                  <a:cubicBezTo>
                    <a:pt x="70930" y="1448904"/>
                    <a:pt x="46377" y="1438734"/>
                    <a:pt x="28274" y="1420630"/>
                  </a:cubicBezTo>
                  <a:cubicBezTo>
                    <a:pt x="10170" y="1402527"/>
                    <a:pt x="0" y="1377974"/>
                    <a:pt x="0" y="1352372"/>
                  </a:cubicBezTo>
                  <a:lnTo>
                    <a:pt x="0" y="96532"/>
                  </a:lnTo>
                  <a:cubicBezTo>
                    <a:pt x="0" y="43219"/>
                    <a:pt x="43219" y="0"/>
                    <a:pt x="9653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20" r="0" b="-12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172950" y="3352800"/>
            <a:ext cx="4010025" cy="4051011"/>
            <a:chOff x="0" y="0"/>
            <a:chExt cx="1434245" cy="14489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34245" cy="1448904"/>
            </a:xfrm>
            <a:custGeom>
              <a:avLst/>
              <a:gdLst/>
              <a:ahLst/>
              <a:cxnLst/>
              <a:rect r="r" b="b" t="t" l="l"/>
              <a:pathLst>
                <a:path h="1448904" w="1434245">
                  <a:moveTo>
                    <a:pt x="96532" y="0"/>
                  </a:moveTo>
                  <a:lnTo>
                    <a:pt x="1337713" y="0"/>
                  </a:lnTo>
                  <a:cubicBezTo>
                    <a:pt x="1363314" y="0"/>
                    <a:pt x="1387868" y="10170"/>
                    <a:pt x="1405971" y="28274"/>
                  </a:cubicBezTo>
                  <a:cubicBezTo>
                    <a:pt x="1424074" y="46377"/>
                    <a:pt x="1434245" y="70930"/>
                    <a:pt x="1434245" y="96532"/>
                  </a:cubicBezTo>
                  <a:lnTo>
                    <a:pt x="1434245" y="1352372"/>
                  </a:lnTo>
                  <a:cubicBezTo>
                    <a:pt x="1434245" y="1405685"/>
                    <a:pt x="1391026" y="1448904"/>
                    <a:pt x="1337713" y="1448904"/>
                  </a:cubicBezTo>
                  <a:lnTo>
                    <a:pt x="96532" y="1448904"/>
                  </a:lnTo>
                  <a:cubicBezTo>
                    <a:pt x="70930" y="1448904"/>
                    <a:pt x="46377" y="1438734"/>
                    <a:pt x="28274" y="1420630"/>
                  </a:cubicBezTo>
                  <a:cubicBezTo>
                    <a:pt x="10170" y="1402527"/>
                    <a:pt x="0" y="1377974"/>
                    <a:pt x="0" y="1352372"/>
                  </a:cubicBezTo>
                  <a:lnTo>
                    <a:pt x="0" y="96532"/>
                  </a:lnTo>
                  <a:cubicBezTo>
                    <a:pt x="0" y="43219"/>
                    <a:pt x="43219" y="0"/>
                    <a:pt x="9653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20" r="0" b="-12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66750" y="7829550"/>
            <a:ext cx="4010025" cy="1394102"/>
            <a:chOff x="0" y="0"/>
            <a:chExt cx="5346700" cy="185880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123825"/>
              <a:ext cx="5346700" cy="764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001437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BILLS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727233"/>
              <a:ext cx="5346700" cy="11315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Essential monthly expenses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419850" y="7829550"/>
            <a:ext cx="4010025" cy="975002"/>
            <a:chOff x="0" y="0"/>
            <a:chExt cx="5346700" cy="130000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123825"/>
              <a:ext cx="5346700" cy="764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001437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GROCERIES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727233"/>
              <a:ext cx="5346700" cy="572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Daily household needs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7829550"/>
            <a:ext cx="4010025" cy="975002"/>
            <a:chOff x="0" y="0"/>
            <a:chExt cx="5346700" cy="1300002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123825"/>
              <a:ext cx="5346700" cy="764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001437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ELECTRONICS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727233"/>
              <a:ext cx="5346700" cy="5727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Tech purchases surge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DC81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00100"/>
            <a:ext cx="15516225" cy="107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F8F8F8"/>
                </a:solidFill>
                <a:latin typeface="Farro"/>
                <a:ea typeface="Farro"/>
                <a:cs typeface="Farro"/>
                <a:sym typeface="Farro"/>
              </a:rPr>
              <a:t>Ideal Credit Card Segments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7829550"/>
            <a:ext cx="6886575" cy="1790700"/>
            <a:chOff x="0" y="0"/>
            <a:chExt cx="9182100" cy="23876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887095"/>
              <a:ext cx="9182100" cy="15005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8F8F8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Focusing on early professionals aged 21-27, this group values rewards and benefits tailored to their lifestyle.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 strike="noStrike" u="none">
                  <a:solidFill>
                    <a:srgbClr val="001437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Secondary Segment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433"/>
            <a:ext cx="6886575" cy="1790700"/>
            <a:chOff x="0" y="0"/>
            <a:chExt cx="9182100" cy="2387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887095"/>
              <a:ext cx="9182100" cy="15005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8F8F8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Targeting salaried individuals aged 25-45 who seek value and convenience in their credit card offerings.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 strike="noStrike" u="none">
                  <a:solidFill>
                    <a:srgbClr val="001437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Primary Segment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7829483"/>
            <a:ext cx="6886575" cy="1790700"/>
            <a:chOff x="0" y="0"/>
            <a:chExt cx="9182100" cy="23876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887095"/>
              <a:ext cx="9182100" cy="15005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8F8F8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Targeting high net worth individuals, offering exclusive perks and tailored services to meet their unique financial needs.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 strike="noStrike" u="none">
                  <a:solidFill>
                    <a:srgbClr val="001437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Premium Segment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6886575" cy="1790700"/>
            <a:chOff x="0" y="0"/>
            <a:chExt cx="9182100" cy="238760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887095"/>
              <a:ext cx="9182100" cy="15005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8F8F8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Catering to small business owners, this segment requires flexible spending options and unique business-related benefits for growth.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 strike="noStrike" u="none">
                  <a:solidFill>
                    <a:srgbClr val="001437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Growth Segment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81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4552950"/>
            <a:chOff x="0" y="0"/>
            <a:chExt cx="9182100" cy="60706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33350"/>
              <a:ext cx="9182100" cy="4176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F8F8F8"/>
                  </a:solidFill>
                  <a:latin typeface="Farro"/>
                  <a:ea typeface="Farro"/>
                  <a:cs typeface="Farro"/>
                  <a:sym typeface="Farro"/>
                </a:rPr>
                <a:t>Proposed Credit Card Portfolio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7085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F8F8F8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Tailored product offerings for high-value customers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956435"/>
            <a:chOff x="0" y="0"/>
            <a:chExt cx="9182100" cy="2608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08075"/>
              <a:ext cx="9182100" cy="15005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8F8F8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Designed for daily expenses, this card offers cashback on bills and groceries, rewarding customers for their regular spending habits.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 strike="noStrike" u="none">
                  <a:solidFill>
                    <a:srgbClr val="001437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Everyday Rewards Card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2327910"/>
            <a:chOff x="0" y="0"/>
            <a:chExt cx="9182100" cy="31038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08075"/>
              <a:ext cx="9182100" cy="1995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8F8F8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This card enhances the travel experience with exclusive perks for airports, hotels, and entertainment, making it ideal for frequent travelers.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 strike="noStrike" u="none">
                  <a:solidFill>
                    <a:srgbClr val="001437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Lifestyle &amp; Travel Card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2327910"/>
            <a:chOff x="0" y="0"/>
            <a:chExt cx="9182100" cy="31038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08075"/>
              <a:ext cx="9182100" cy="1995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8F8F8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Targeting small business owners, this card provides benefits on office supplies and digital services, ensuring support for growing enterprises.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 strike="noStrike" u="none">
                  <a:solidFill>
                    <a:srgbClr val="001437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Business Edge Card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93341" y="5793764"/>
            <a:ext cx="5633392" cy="3464536"/>
            <a:chOff x="0" y="0"/>
            <a:chExt cx="2343184" cy="14410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43184" cy="1441058"/>
            </a:xfrm>
            <a:custGeom>
              <a:avLst/>
              <a:gdLst/>
              <a:ahLst/>
              <a:cxnLst/>
              <a:rect r="r" b="b" t="t" l="l"/>
              <a:pathLst>
                <a:path h="1441058" w="2343184">
                  <a:moveTo>
                    <a:pt x="68715" y="0"/>
                  </a:moveTo>
                  <a:lnTo>
                    <a:pt x="2274469" y="0"/>
                  </a:lnTo>
                  <a:cubicBezTo>
                    <a:pt x="2312419" y="0"/>
                    <a:pt x="2343184" y="30765"/>
                    <a:pt x="2343184" y="68715"/>
                  </a:cubicBezTo>
                  <a:lnTo>
                    <a:pt x="2343184" y="1372344"/>
                  </a:lnTo>
                  <a:cubicBezTo>
                    <a:pt x="2343184" y="1410294"/>
                    <a:pt x="2312419" y="1441058"/>
                    <a:pt x="2274469" y="1441058"/>
                  </a:cubicBezTo>
                  <a:lnTo>
                    <a:pt x="68715" y="1441058"/>
                  </a:lnTo>
                  <a:cubicBezTo>
                    <a:pt x="30765" y="1441058"/>
                    <a:pt x="0" y="1410294"/>
                    <a:pt x="0" y="1372344"/>
                  </a:cubicBezTo>
                  <a:lnTo>
                    <a:pt x="0" y="68715"/>
                  </a:lnTo>
                  <a:cubicBezTo>
                    <a:pt x="0" y="30765"/>
                    <a:pt x="30765" y="0"/>
                    <a:pt x="6871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9857" r="0" b="-9857"/>
              </a:stretch>
            </a:blipFill>
            <a:ln cap="rnd">
              <a:noFill/>
              <a:prstDash val="solid"/>
              <a:round/>
            </a:ln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81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2571750" cy="2699385"/>
            <a:chOff x="0" y="0"/>
            <a:chExt cx="3429000" cy="35991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08075"/>
              <a:ext cx="3429000" cy="2491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8F8F8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Real-time alerts notify users of important transactions immediately.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F8F8F8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62438" y="6038904"/>
            <a:ext cx="2571750" cy="2327910"/>
            <a:chOff x="0" y="0"/>
            <a:chExt cx="3429000" cy="31038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08075"/>
              <a:ext cx="3429000" cy="1995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8F8F8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Category caps help users effectively manage their spending habits.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F8F8F8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58125" y="6038850"/>
            <a:ext cx="2571750" cy="2699385"/>
            <a:chOff x="0" y="0"/>
            <a:chExt cx="3429000" cy="35991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08075"/>
              <a:ext cx="3429000" cy="2491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8F8F8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Flexible EMIs offer personalized payment plans based on user needs.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F8F8F8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03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453812" y="6038850"/>
            <a:ext cx="2571750" cy="3070860"/>
            <a:chOff x="0" y="0"/>
            <a:chExt cx="3429000" cy="40944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08075"/>
              <a:ext cx="3429000" cy="2986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8F8F8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Smart spend insights provide tailored recommendations for maximizing benefits.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F8F8F8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04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049500" y="6038850"/>
            <a:ext cx="2571750" cy="2327910"/>
            <a:chOff x="0" y="0"/>
            <a:chExt cx="3429000" cy="310388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108075"/>
              <a:ext cx="3429000" cy="1995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-52">
                  <a:solidFill>
                    <a:srgbClr val="F8F8F8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Enhanced usability ensures a seamless experience for all customers.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66675"/>
              <a:ext cx="2199121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F8F8F8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05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66750" y="800100"/>
            <a:ext cx="14077950" cy="107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F8F8F8"/>
                </a:solidFill>
                <a:latin typeface="Farro"/>
                <a:ea typeface="Farro"/>
                <a:cs typeface="Farro"/>
                <a:sym typeface="Farro"/>
              </a:rPr>
              <a:t>Features and User Experience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66750" y="5143500"/>
            <a:ext cx="819150" cy="446049"/>
            <a:chOff x="0" y="0"/>
            <a:chExt cx="1092200" cy="5947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4262497" y="5143500"/>
            <a:ext cx="819150" cy="446049"/>
            <a:chOff x="0" y="0"/>
            <a:chExt cx="1092200" cy="5947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858245" y="5143500"/>
            <a:ext cx="819150" cy="446049"/>
            <a:chOff x="0" y="0"/>
            <a:chExt cx="1092200" cy="5947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453992" y="5143500"/>
            <a:ext cx="819150" cy="446049"/>
            <a:chOff x="0" y="0"/>
            <a:chExt cx="1092200" cy="59473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5049740" y="5143500"/>
            <a:ext cx="819150" cy="446049"/>
            <a:chOff x="0" y="0"/>
            <a:chExt cx="1092200" cy="5947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97468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4732" cy="594732"/>
            </a:xfrm>
            <a:custGeom>
              <a:avLst/>
              <a:gdLst/>
              <a:ahLst/>
              <a:cxnLst/>
              <a:rect r="r" b="b" t="t" l="l"/>
              <a:pathLst>
                <a:path h="594732" w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81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90600" y="4998156"/>
            <a:ext cx="1826458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4836231"/>
            <a:ext cx="323850" cy="323850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676775" y="4836231"/>
            <a:ext cx="323850" cy="323850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991600" y="4845756"/>
            <a:ext cx="323850" cy="323850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306425" y="4845756"/>
            <a:ext cx="323850" cy="32385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50" y="800100"/>
            <a:ext cx="14077950" cy="107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F8F8F8"/>
                </a:solidFill>
                <a:latin typeface="Farro"/>
                <a:ea typeface="Farro"/>
                <a:cs typeface="Farro"/>
                <a:sym typeface="Farro"/>
              </a:rPr>
              <a:t>Go-to-Market Strategy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3238500"/>
            <a:ext cx="287655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b="true" sz="3199" spc="-95" strike="noStrike" u="none">
                <a:solidFill>
                  <a:srgbClr val="001437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Launch Phase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5674431"/>
            <a:ext cx="2876550" cy="1518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8F8F8"/>
                </a:solidFill>
                <a:latin typeface="Antique Olive"/>
                <a:ea typeface="Antique Olive"/>
                <a:cs typeface="Antique Olive"/>
                <a:sym typeface="Antique Olive"/>
              </a:rPr>
              <a:t>Initiate marketing and promotional activities in Mumbai to build awareness.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76775" y="3238500"/>
            <a:ext cx="287655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b="true" sz="3199" spc="-95" strike="noStrike" u="none">
                <a:solidFill>
                  <a:srgbClr val="001437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Launch Phase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76775" y="5674431"/>
            <a:ext cx="2876550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8F8F8"/>
                </a:solidFill>
                <a:latin typeface="Antique Olive"/>
                <a:ea typeface="Antique Olive"/>
                <a:cs typeface="Antique Olive"/>
                <a:sym typeface="Antique Olive"/>
              </a:rPr>
              <a:t>Expand reach with campaigns in Chennai, targeting local consumer demographics.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91600" y="3238500"/>
            <a:ext cx="287655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b="true" sz="3199" spc="-95" strike="noStrike" u="none">
                <a:solidFill>
                  <a:srgbClr val="001437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Launch Phase 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06425" y="3238500"/>
            <a:ext cx="287655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b="true" sz="3199" spc="-95" strike="noStrike" u="none">
                <a:solidFill>
                  <a:srgbClr val="001437"/>
                </a:solidFill>
                <a:latin typeface="Antique Olive Bold"/>
                <a:ea typeface="Antique Olive Bold"/>
                <a:cs typeface="Antique Olive Bold"/>
                <a:sym typeface="Antique Olive Bold"/>
              </a:rPr>
              <a:t>Launch Phase 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91600" y="5674431"/>
            <a:ext cx="2876550" cy="1518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8F8F8"/>
                </a:solidFill>
                <a:latin typeface="Antique Olive"/>
                <a:ea typeface="Antique Olive"/>
                <a:cs typeface="Antique Olive"/>
                <a:sym typeface="Antique Olive"/>
              </a:rPr>
              <a:t>Strengthen presence in NCR with focused digital engagement strategies.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06425" y="5674431"/>
            <a:ext cx="2876550" cy="226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8F8F8"/>
                </a:solidFill>
                <a:latin typeface="Antique Olive"/>
                <a:ea typeface="Antique Olive"/>
                <a:cs typeface="Antique Olive"/>
                <a:sym typeface="Antique Olive"/>
              </a:rPr>
              <a:t>Final rollout in Bengaluru, leveraging workplace tie-ups for customer acquisition.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434F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42044" y="2912225"/>
            <a:ext cx="9403912" cy="4462550"/>
            <a:chOff x="0" y="0"/>
            <a:chExt cx="12538549" cy="595006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979864"/>
              <a:ext cx="11724647" cy="2970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49"/>
                </a:lnSpc>
                <a:spcBef>
                  <a:spcPct val="0"/>
                </a:spcBef>
              </a:pPr>
              <a:r>
                <a:rPr lang="en-US" sz="2535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The Next few pages features dynamic </a:t>
              </a:r>
              <a:r>
                <a:rPr lang="en-US" b="true" sz="2535" strike="noStrike" u="none">
                  <a:solidFill>
                    <a:srgbClr val="FFFFFF"/>
                  </a:solidFill>
                  <a:latin typeface="Antique Olive Bold"/>
                  <a:ea typeface="Antique Olive Bold"/>
                  <a:cs typeface="Antique Olive Bold"/>
                  <a:sym typeface="Antique Olive Bold"/>
                </a:rPr>
                <a:t>Power BI dashboards</a:t>
              </a:r>
              <a:r>
                <a:rPr lang="en-US" sz="2535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 that illustrate key financial metrics and customer analytics, highlighting insights for informed decision-making in Mitron Bank's credit card strategy.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33350"/>
              <a:ext cx="12538549" cy="14837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</a:pPr>
              <a:r>
                <a:rPr lang="en-US" b="true" sz="8000" spc="-160">
                  <a:solidFill>
                    <a:srgbClr val="FFFFFF"/>
                  </a:solidFill>
                  <a:latin typeface="Farro Bold"/>
                  <a:ea typeface="Farro Bold"/>
                  <a:cs typeface="Farro Bold"/>
                  <a:sym typeface="Farro Bold"/>
                </a:rPr>
                <a:t>Dashboard Visuals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55A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78644"/>
            <a:ext cx="16230600" cy="9129712"/>
          </a:xfrm>
          <a:custGeom>
            <a:avLst/>
            <a:gdLst/>
            <a:ahLst/>
            <a:cxnLst/>
            <a:rect r="r" b="b" t="t" l="l"/>
            <a:pathLst>
              <a:path h="9129712" w="16230600">
                <a:moveTo>
                  <a:pt x="0" y="0"/>
                </a:moveTo>
                <a:lnTo>
                  <a:pt x="16230600" y="0"/>
                </a:lnTo>
                <a:lnTo>
                  <a:pt x="16230600" y="9129712"/>
                </a:lnTo>
                <a:lnTo>
                  <a:pt x="0" y="9129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44F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6739" y="498791"/>
            <a:ext cx="16514521" cy="9289418"/>
          </a:xfrm>
          <a:custGeom>
            <a:avLst/>
            <a:gdLst/>
            <a:ahLst/>
            <a:cxnLst/>
            <a:rect r="r" b="b" t="t" l="l"/>
            <a:pathLst>
              <a:path h="9289418" w="16514521">
                <a:moveTo>
                  <a:pt x="0" y="0"/>
                </a:moveTo>
                <a:lnTo>
                  <a:pt x="16514522" y="0"/>
                </a:lnTo>
                <a:lnTo>
                  <a:pt x="16514522" y="9289418"/>
                </a:lnTo>
                <a:lnTo>
                  <a:pt x="0" y="92894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44F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78644"/>
            <a:ext cx="16230600" cy="9129713"/>
          </a:xfrm>
          <a:custGeom>
            <a:avLst/>
            <a:gdLst/>
            <a:ahLst/>
            <a:cxnLst/>
            <a:rect r="r" b="b" t="t" l="l"/>
            <a:pathLst>
              <a:path h="9129713" w="16230600">
                <a:moveTo>
                  <a:pt x="0" y="0"/>
                </a:moveTo>
                <a:lnTo>
                  <a:pt x="16230600" y="0"/>
                </a:lnTo>
                <a:lnTo>
                  <a:pt x="16230600" y="9129712"/>
                </a:lnTo>
                <a:lnTo>
                  <a:pt x="0" y="9129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44F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78644"/>
            <a:ext cx="16230600" cy="9129713"/>
          </a:xfrm>
          <a:custGeom>
            <a:avLst/>
            <a:gdLst/>
            <a:ahLst/>
            <a:cxnLst/>
            <a:rect r="r" b="b" t="t" l="l"/>
            <a:pathLst>
              <a:path h="9129713" w="16230600">
                <a:moveTo>
                  <a:pt x="0" y="0"/>
                </a:moveTo>
                <a:lnTo>
                  <a:pt x="16230600" y="0"/>
                </a:lnTo>
                <a:lnTo>
                  <a:pt x="16230600" y="9129712"/>
                </a:lnTo>
                <a:lnTo>
                  <a:pt x="0" y="9129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81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78644"/>
            <a:ext cx="16230600" cy="9129713"/>
          </a:xfrm>
          <a:custGeom>
            <a:avLst/>
            <a:gdLst/>
            <a:ahLst/>
            <a:cxnLst/>
            <a:rect r="r" b="b" t="t" l="l"/>
            <a:pathLst>
              <a:path h="9129713" w="16230600">
                <a:moveTo>
                  <a:pt x="0" y="0"/>
                </a:moveTo>
                <a:lnTo>
                  <a:pt x="16230600" y="0"/>
                </a:lnTo>
                <a:lnTo>
                  <a:pt x="16230600" y="9129712"/>
                </a:lnTo>
                <a:lnTo>
                  <a:pt x="0" y="9129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81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46531">
            <a:off x="-1693248" y="7535916"/>
            <a:ext cx="4168669" cy="4168669"/>
          </a:xfrm>
          <a:custGeom>
            <a:avLst/>
            <a:gdLst/>
            <a:ahLst/>
            <a:cxnLst/>
            <a:rect r="r" b="b" t="t" l="l"/>
            <a:pathLst>
              <a:path h="4168669" w="4168669">
                <a:moveTo>
                  <a:pt x="0" y="0"/>
                </a:moveTo>
                <a:lnTo>
                  <a:pt x="4168668" y="0"/>
                </a:lnTo>
                <a:lnTo>
                  <a:pt x="4168668" y="4168668"/>
                </a:lnTo>
                <a:lnTo>
                  <a:pt x="0" y="4168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19850" y="3807255"/>
            <a:ext cx="5448300" cy="2862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00"/>
              </a:lnSpc>
              <a:spcBef>
                <a:spcPct val="0"/>
              </a:spcBef>
            </a:pPr>
            <a:r>
              <a:rPr lang="en-US" b="true" sz="11000" spc="-220" strike="noStrike" u="none">
                <a:solidFill>
                  <a:srgbClr val="FFFFFF"/>
                </a:solidFill>
                <a:latin typeface="Farro Bold"/>
                <a:ea typeface="Farro Bold"/>
                <a:cs typeface="Farro Bold"/>
                <a:sym typeface="Farro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Mitron Bank – Credit Card Strategy</dc:description>
  <dc:identifier>DAG6ksRmTgA</dc:identifier>
  <dcterms:modified xsi:type="dcterms:W3CDTF">2011-08-01T06:04:30Z</dcterms:modified>
  <cp:revision>1</cp:revision>
  <dc:title>Mitron Bank: Credit Card Strategy Analysis</dc:title>
</cp:coreProperties>
</file>